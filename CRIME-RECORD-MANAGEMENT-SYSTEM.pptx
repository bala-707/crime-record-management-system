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1" r:id="rId1"/>
  </p:sldMasterIdLst>
  <p:notesMasterIdLst>
    <p:notesMasterId r:id="rId17"/>
  </p:notesMasterIdLst>
  <p:handoutMasterIdLst>
    <p:handoutMasterId r:id="rId18"/>
  </p:handoutMasterIdLst>
  <p:sldIdLst>
    <p:sldId id="258" r:id="rId2"/>
    <p:sldId id="486" r:id="rId3"/>
    <p:sldId id="471" r:id="rId4"/>
    <p:sldId id="478" r:id="rId5"/>
    <p:sldId id="476" r:id="rId6"/>
    <p:sldId id="348" r:id="rId7"/>
    <p:sldId id="457" r:id="rId8"/>
    <p:sldId id="479" r:id="rId9"/>
    <p:sldId id="480" r:id="rId10"/>
    <p:sldId id="481" r:id="rId11"/>
    <p:sldId id="482" r:id="rId12"/>
    <p:sldId id="483" r:id="rId13"/>
    <p:sldId id="487" r:id="rId14"/>
    <p:sldId id="484" r:id="rId15"/>
    <p:sldId id="485" r:id="rId16"/>
  </p:sldIdLst>
  <p:sldSz cx="9144000" cy="5143500" type="screen16x9"/>
  <p:notesSz cx="6797675" cy="9926638"/>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710" autoAdjust="0"/>
    <p:restoredTop sz="87621" autoAdjust="0"/>
  </p:normalViewPr>
  <p:slideViewPr>
    <p:cSldViewPr>
      <p:cViewPr varScale="1">
        <p:scale>
          <a:sx n="91" d="100"/>
          <a:sy n="91" d="100"/>
        </p:scale>
        <p:origin x="1723" y="6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11/29/2025</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11/29/2025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1</a:t>
            </a:fld>
            <a:endParaRPr lang="en-US" altLang="en-US"/>
          </a:p>
        </p:txBody>
      </p:sp>
    </p:spTree>
    <p:extLst>
      <p:ext uri="{BB962C8B-B14F-4D97-AF65-F5344CB8AC3E}">
        <p14:creationId xmlns:p14="http://schemas.microsoft.com/office/powerpoint/2010/main" val="2303183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2</a:t>
            </a:fld>
            <a:endParaRPr lang="en-US" altLang="en-US"/>
          </a:p>
        </p:txBody>
      </p:sp>
    </p:spTree>
    <p:extLst>
      <p:ext uri="{BB962C8B-B14F-4D97-AF65-F5344CB8AC3E}">
        <p14:creationId xmlns:p14="http://schemas.microsoft.com/office/powerpoint/2010/main" val="3498916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pPr>
                <a:defRPr/>
              </a:pPr>
              <a:t>4</a:t>
            </a:fld>
            <a:endParaRPr lang="en-US" altLang="en-US"/>
          </a:p>
        </p:txBody>
      </p:sp>
    </p:spTree>
    <p:extLst>
      <p:ext uri="{BB962C8B-B14F-4D97-AF65-F5344CB8AC3E}">
        <p14:creationId xmlns:p14="http://schemas.microsoft.com/office/powerpoint/2010/main" val="2191245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pPr>
                <a:defRPr/>
              </a:pPr>
              <a:t>5</a:t>
            </a:fld>
            <a:endParaRPr lang="en-US" altLang="en-US"/>
          </a:p>
        </p:txBody>
      </p:sp>
    </p:spTree>
    <p:extLst>
      <p:ext uri="{BB962C8B-B14F-4D97-AF65-F5344CB8AC3E}">
        <p14:creationId xmlns:p14="http://schemas.microsoft.com/office/powerpoint/2010/main" val="3083822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9</a:t>
            </a:fld>
            <a:endParaRPr lang="en-US" altLang="en-US"/>
          </a:p>
        </p:txBody>
      </p:sp>
    </p:spTree>
    <p:extLst>
      <p:ext uri="{BB962C8B-B14F-4D97-AF65-F5344CB8AC3E}">
        <p14:creationId xmlns:p14="http://schemas.microsoft.com/office/powerpoint/2010/main" val="1836288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15</a:t>
            </a:fld>
            <a:endParaRPr lang="en-US" altLang="en-US"/>
          </a:p>
        </p:txBody>
      </p:sp>
    </p:spTree>
    <p:extLst>
      <p:ext uri="{BB962C8B-B14F-4D97-AF65-F5344CB8AC3E}">
        <p14:creationId xmlns:p14="http://schemas.microsoft.com/office/powerpoint/2010/main" val="1835805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385127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3846513"/>
            <a:ext cx="9144000" cy="333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ctrTitle"/>
          </p:nvPr>
        </p:nvSpPr>
        <p:spPr>
          <a:xfrm>
            <a:off x="685800" y="2516886"/>
            <a:ext cx="8077200" cy="1255014"/>
          </a:xfrm>
        </p:spPr>
        <p:txBody>
          <a:bodyPr tIns="0" bIns="0" anchor="t"/>
          <a:lstStyle>
            <a:lvl1pPr algn="l">
              <a:defRPr sz="4700" b="1"/>
            </a:lvl1pPr>
            <a:extLst/>
          </a:lstStyle>
          <a:p>
            <a:r>
              <a:rPr lang="en-US"/>
              <a:t>Click to edit Master title style</a:t>
            </a:r>
          </a:p>
        </p:txBody>
      </p:sp>
      <p:sp>
        <p:nvSpPr>
          <p:cNvPr id="3" name="Subtitle 2"/>
          <p:cNvSpPr>
            <a:spLocks noGrp="1"/>
          </p:cNvSpPr>
          <p:nvPr>
            <p:ph type="subTitle" idx="1"/>
          </p:nvPr>
        </p:nvSpPr>
        <p:spPr>
          <a:xfrm>
            <a:off x="685800" y="1371600"/>
            <a:ext cx="8077200" cy="1124712"/>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pPr>
              <a:defRPr/>
            </a:pPr>
            <a:fld id="{A0098F1B-732B-4B15-AFB8-71C8E10A67EF}" type="datetime3">
              <a:rPr lang="en-US" smtClean="0"/>
              <a:pPr>
                <a:defRPr/>
              </a:pPr>
              <a:t>29 November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C0A8E10E-36D1-42AB-939C-34BEB33CD9E4}"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586"/>
            <a:ext cx="8229600" cy="93954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6006545-E01F-4999-8435-D98DCEF39518}" type="datetime3">
              <a:rPr lang="en-US" smtClean="0"/>
              <a:pPr>
                <a:defRPr/>
              </a:pPr>
              <a:t>29 November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E14ABD8-B1EB-4C07-9937-C8C4E38BDF00}"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195262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1952625"/>
            <a:ext cx="9144000" cy="333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49808" y="89154"/>
            <a:ext cx="8013192" cy="1227582"/>
          </a:xfrm>
        </p:spPr>
        <p:txBody>
          <a:bodyPr tIns="0" rIns="91440" bIns="0" anchor="b"/>
          <a:lstStyle>
            <a:lvl1pPr algn="l">
              <a:defRPr sz="4700" b="1" cap="none" baseline="0"/>
            </a:lvl1pPr>
            <a:extLst/>
          </a:lstStyle>
          <a:p>
            <a:r>
              <a:rPr lang="en-US"/>
              <a:t>Click to edit Master title style</a:t>
            </a:r>
          </a:p>
        </p:txBody>
      </p:sp>
      <p:sp>
        <p:nvSpPr>
          <p:cNvPr id="3" name="Text Placeholder 2"/>
          <p:cNvSpPr>
            <a:spLocks noGrp="1"/>
          </p:cNvSpPr>
          <p:nvPr>
            <p:ph type="body" idx="1"/>
          </p:nvPr>
        </p:nvSpPr>
        <p:spPr>
          <a:xfrm>
            <a:off x="740664" y="1371600"/>
            <a:ext cx="8022336" cy="51435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E6564B89-5B64-4722-B4EE-2C1A1CA3E7C2}" type="datetime3">
              <a:rPr lang="en-US" smtClean="0"/>
              <a:pPr>
                <a:defRPr/>
              </a:pPr>
              <a:t>29 November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BEE0AD74-942B-45F6-8EEE-203197083F56}"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0452"/>
            <a:ext cx="4038600" cy="346786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0452"/>
            <a:ext cx="4038600" cy="3467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84AB397-A81A-4931-B8F2-9CA8F945AB0F}" type="datetime3">
              <a:rPr lang="en-US" smtClean="0"/>
              <a:pPr>
                <a:defRPr/>
              </a:pPr>
              <a:t>29 November 2025</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B554FDC-F986-4516-81A3-5CBC9634E9C1}"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1274241"/>
            <a:ext cx="4040188"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a:t>Click to edit Master text styles</a:t>
            </a:r>
          </a:p>
        </p:txBody>
      </p:sp>
      <p:sp>
        <p:nvSpPr>
          <p:cNvPr id="4" name="Content Placeholder 3"/>
          <p:cNvSpPr>
            <a:spLocks noGrp="1"/>
          </p:cNvSpPr>
          <p:nvPr>
            <p:ph sz="half" idx="2"/>
          </p:nvPr>
        </p:nvSpPr>
        <p:spPr>
          <a:xfrm>
            <a:off x="457200" y="1837134"/>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4241"/>
            <a:ext cx="4041775"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a:t>Click to edit Master text styles</a:t>
            </a:r>
          </a:p>
        </p:txBody>
      </p:sp>
      <p:sp>
        <p:nvSpPr>
          <p:cNvPr id="6" name="Content Placeholder 5"/>
          <p:cNvSpPr>
            <a:spLocks noGrp="1"/>
          </p:cNvSpPr>
          <p:nvPr>
            <p:ph sz="quarter" idx="4"/>
          </p:nvPr>
        </p:nvSpPr>
        <p:spPr>
          <a:xfrm>
            <a:off x="4645026" y="1837134"/>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C0F3814-7D68-41F9-8E1F-730F476A46FC}" type="datetime3">
              <a:rPr lang="en-US" smtClean="0"/>
              <a:pPr>
                <a:defRPr/>
              </a:pPr>
              <a:t>29 November 2025</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2A63921-D0A8-45BD-ADF0-24CC5F135FEC}"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FE02CD6-32A7-40FD-A976-CDC217CE51EF}" type="datetime3">
              <a:rPr lang="en-US" smtClean="0"/>
              <a:pPr>
                <a:defRPr/>
              </a:pPr>
              <a:t>29 November 2025</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CE540F1-D866-4735-9E65-A1952EADD02D}"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AE7E594E-F475-41AD-BB75-6D6605CEE27F}" type="datetime3">
              <a:rPr lang="en-US" smtClean="0"/>
              <a:pPr>
                <a:defRPr/>
              </a:pPr>
              <a:t>29 November 2025</a:t>
            </a:fld>
            <a:endParaRPr lang="en-US" dirty="0"/>
          </a:p>
        </p:txBody>
      </p:sp>
      <p:sp>
        <p:nvSpPr>
          <p:cNvPr id="3" name="Footer Placeholder 2"/>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4" name="Slide Number Placeholder 3"/>
          <p:cNvSpPr>
            <a:spLocks noGrp="1"/>
          </p:cNvSpPr>
          <p:nvPr>
            <p:ph type="sldNum" sz="quarter" idx="12"/>
          </p:nvPr>
        </p:nvSpPr>
        <p:spPr/>
        <p:txBody>
          <a:bodyPr/>
          <a:lstStyle>
            <a:lvl1pPr>
              <a:defRPr smtClean="0"/>
            </a:lvl1pPr>
          </a:lstStyle>
          <a:p>
            <a:pPr>
              <a:defRPr/>
            </a:pPr>
            <a:fld id="{2571F5BB-190B-45BA-B754-2541F8CA6F46}"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7838" y="114300"/>
            <a:ext cx="2523744" cy="733806"/>
          </a:xfrm>
        </p:spPr>
        <p:txBody>
          <a:bodyPr lIns="73152" bIns="0" anchor="b">
            <a:sp3d prstMaterial="matte"/>
          </a:bodyPr>
          <a:lstStyle>
            <a:lvl1pPr algn="l">
              <a:defRPr sz="2000" b="0"/>
            </a:lvl1pPr>
            <a:extLst/>
          </a:lstStyle>
          <a:p>
            <a:r>
              <a:rPr lang="en-US"/>
              <a:t>Click to edit Master title style</a:t>
            </a:r>
          </a:p>
        </p:txBody>
      </p:sp>
      <p:sp>
        <p:nvSpPr>
          <p:cNvPr id="3" name="Content Placeholder 2"/>
          <p:cNvSpPr>
            <a:spLocks noGrp="1"/>
          </p:cNvSpPr>
          <p:nvPr>
            <p:ph idx="1"/>
          </p:nvPr>
        </p:nvSpPr>
        <p:spPr>
          <a:xfrm>
            <a:off x="3019378" y="1307350"/>
            <a:ext cx="5920641" cy="34191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838" y="1297514"/>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91E2B4D4-B6E2-47FD-85E2-7D101084715D}" type="datetime3">
              <a:rPr lang="en-US" smtClean="0"/>
              <a:pPr>
                <a:defRPr/>
              </a:pPr>
              <a:t>29 November 2025</a:t>
            </a:fld>
            <a:endParaRPr lang="en-US" dirty="0"/>
          </a:p>
        </p:txBody>
      </p:sp>
      <p:sp>
        <p:nvSpPr>
          <p:cNvPr id="8" name="Footer Placeholder 5"/>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p:txBody>
          <a:bodyPr/>
          <a:lstStyle>
            <a:lvl1pPr>
              <a:defRPr smtClean="0"/>
            </a:lvl1pPr>
          </a:lstStyle>
          <a:p>
            <a:pPr>
              <a:defRPr/>
            </a:pPr>
            <a:fld id="{4B3D1EAA-7E8D-49EA-BCBB-3C5BA424400D}"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Rectangle 4"/>
          <p:cNvSpPr/>
          <p:nvPr/>
        </p:nvSpPr>
        <p:spPr>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4592" y="116586"/>
            <a:ext cx="2525150" cy="733806"/>
          </a:xfrm>
        </p:spPr>
        <p:txBody>
          <a:bodyPr lIns="73152" bIns="0" anchor="b">
            <a:sp3d prstMaterial="matte"/>
          </a:bodyPr>
          <a:lstStyle>
            <a:lvl1pPr algn="l">
              <a:defRPr sz="2000" b="0"/>
            </a:lvl1pPr>
            <a:extLst/>
          </a:lstStyle>
          <a:p>
            <a:r>
              <a:rPr lang="en-US"/>
              <a:t>Click to edit Master title style</a:t>
            </a:r>
          </a:p>
        </p:txBody>
      </p:sp>
      <p:sp>
        <p:nvSpPr>
          <p:cNvPr id="3" name="Picture Placeholder 2"/>
          <p:cNvSpPr>
            <a:spLocks noGrp="1"/>
          </p:cNvSpPr>
          <p:nvPr>
            <p:ph type="pic" idx="1"/>
          </p:nvPr>
        </p:nvSpPr>
        <p:spPr>
          <a:xfrm>
            <a:off x="2903806" y="1113606"/>
            <a:ext cx="6247397" cy="4029894"/>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164592" y="1296162"/>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a:t>Click to edit Master text styles</a:t>
            </a:r>
          </a:p>
        </p:txBody>
      </p:sp>
      <p:sp>
        <p:nvSpPr>
          <p:cNvPr id="7" name="Date Placeholder 4"/>
          <p:cNvSpPr>
            <a:spLocks noGrp="1"/>
          </p:cNvSpPr>
          <p:nvPr>
            <p:ph type="dt" sz="half" idx="10"/>
          </p:nvPr>
        </p:nvSpPr>
        <p:spPr>
          <a:xfrm>
            <a:off x="165100" y="877888"/>
            <a:ext cx="2522538" cy="150812"/>
          </a:xfrm>
        </p:spPr>
        <p:txBody>
          <a:bodyPr/>
          <a:lstStyle>
            <a:lvl1pPr>
              <a:defRPr/>
            </a:lvl1pPr>
          </a:lstStyle>
          <a:p>
            <a:pPr>
              <a:defRPr/>
            </a:pPr>
            <a:fld id="{22C41680-3D9B-4FE7-ADBA-79948EF16D96}" type="datetime3">
              <a:rPr lang="en-US" smtClean="0"/>
              <a:pPr>
                <a:defRPr/>
              </a:pPr>
              <a:t>29 November 2025</a:t>
            </a:fld>
            <a:endParaRPr lang="en-US" dirty="0"/>
          </a:p>
        </p:txBody>
      </p:sp>
      <p:sp>
        <p:nvSpPr>
          <p:cNvPr id="8" name="Footer Placeholder 5"/>
          <p:cNvSpPr>
            <a:spLocks noGrp="1"/>
          </p:cNvSpPr>
          <p:nvPr>
            <p:ph type="ftr" sz="quarter" idx="11"/>
          </p:nvPr>
        </p:nvSpPr>
        <p:spPr>
          <a:xfrm>
            <a:off x="3035300" y="877888"/>
            <a:ext cx="5194300" cy="150812"/>
          </a:xfrm>
        </p:spPr>
        <p:txBody>
          <a:bodyPr/>
          <a:lstStyle>
            <a:lvl1pPr>
              <a:defRPr>
                <a:solidFill>
                  <a:schemeClr val="bg1">
                    <a:shade val="50000"/>
                  </a:schemeClr>
                </a:solidFill>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a:xfrm>
            <a:off x="8339138" y="877888"/>
            <a:ext cx="733425" cy="150812"/>
          </a:xfrm>
        </p:spPr>
        <p:txBody>
          <a:bodyPr/>
          <a:lstStyle>
            <a:lvl1pPr>
              <a:defRPr smtClean="0"/>
            </a:lvl1pPr>
          </a:lstStyle>
          <a:p>
            <a:pPr>
              <a:defRPr/>
            </a:pPr>
            <a:fld id="{7B93E55C-A662-4067-BE20-A4D82E579A38}" type="slidenum">
              <a:rPr lang="en-US" altLang="en-US"/>
              <a:pPr>
                <a:defRPr/>
              </a:pPr>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724B062-6228-41C2-ABDD-D7148789000D}" type="datetime3">
              <a:rPr lang="en-US" smtClean="0"/>
              <a:pPr>
                <a:defRPr/>
              </a:pPr>
              <a:t>29 November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A0C11DA-FA02-4E33-93FC-C378FAF95FBA}"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invGray">
          <a:xfrm>
            <a:off x="6599238" y="0"/>
            <a:ext cx="46037" cy="51435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ltGray">
          <a:xfrm>
            <a:off x="6648450" y="0"/>
            <a:ext cx="2514600" cy="51435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781800" y="205980"/>
            <a:ext cx="19050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60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84C56A4E-C062-4A3C-A7D1-75769F469492}" type="datetime3">
              <a:rPr lang="en-US" smtClean="0"/>
              <a:pPr>
                <a:defRPr/>
              </a:pPr>
              <a:t>29 November 2025</a:t>
            </a:fld>
            <a:endParaRPr lang="en-US" dirty="0"/>
          </a:p>
        </p:txBody>
      </p:sp>
      <p:sp>
        <p:nvSpPr>
          <p:cNvPr id="7" name="Footer Placeholder 4"/>
          <p:cNvSpPr>
            <a:spLocks noGrp="1"/>
          </p:cNvSpPr>
          <p:nvPr>
            <p:ph type="ftr" sz="quarter" idx="11"/>
          </p:nvPr>
        </p:nvSpPr>
        <p:spPr>
          <a:xfrm>
            <a:off x="2640013" y="4783138"/>
            <a:ext cx="3836987" cy="273050"/>
          </a:xfrm>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lvl1pPr>
          </a:lstStyle>
          <a:p>
            <a:pPr>
              <a:defRPr/>
            </a:pPr>
            <a:fld id="{B1E085C4-C07B-4C80-B337-90438D59D3CD}"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invGray">
          <a:xfrm>
            <a:off x="0" y="1076325"/>
            <a:ext cx="9144000" cy="34925"/>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bwMode="ltGray">
          <a:xfrm>
            <a:off x="0" y="0"/>
            <a:ext cx="9144000" cy="1074738"/>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p:cNvSpPr>
            <a:spLocks noGrp="1"/>
          </p:cNvSpPr>
          <p:nvPr>
            <p:ph type="title"/>
          </p:nvPr>
        </p:nvSpPr>
        <p:spPr>
          <a:xfrm>
            <a:off x="457200" y="114300"/>
            <a:ext cx="8229600" cy="938213"/>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en-US"/>
              <a:t>Click to edit Master title style</a:t>
            </a:r>
          </a:p>
        </p:txBody>
      </p:sp>
      <p:sp>
        <p:nvSpPr>
          <p:cNvPr id="1029" name="Text Placeholder 2"/>
          <p:cNvSpPr>
            <a:spLocks noGrp="1"/>
          </p:cNvSpPr>
          <p:nvPr>
            <p:ph type="body" idx="1"/>
          </p:nvPr>
        </p:nvSpPr>
        <p:spPr bwMode="auto">
          <a:xfrm>
            <a:off x="457200" y="1331913"/>
            <a:ext cx="8229600" cy="3468687"/>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4857750"/>
            <a:ext cx="2133600" cy="206375"/>
          </a:xfrm>
          <a:prstGeom prst="rect">
            <a:avLst/>
          </a:prstGeom>
        </p:spPr>
        <p:txBody>
          <a:bodyPr vert="horz" lIns="109728" rIns="45720" bIns="0" rtlCol="0" anchor="b"/>
          <a:lstStyle>
            <a:lvl1pPr algn="l" eaLnBrk="1" latinLnBrk="0" hangingPunct="1">
              <a:defRPr kumimoji="0" sz="1200">
                <a:solidFill>
                  <a:schemeClr val="tx1">
                    <a:tint val="95000"/>
                  </a:schemeClr>
                </a:solidFill>
                <a:latin typeface="Arial" charset="0"/>
                <a:cs typeface="Arial" charset="0"/>
              </a:defRPr>
            </a:lvl1pPr>
            <a:extLst/>
          </a:lstStyle>
          <a:p>
            <a:pPr>
              <a:defRPr/>
            </a:pPr>
            <a:fld id="{53602E61-5DE4-483D-89FA-8265F0642731}" type="datetime3">
              <a:rPr lang="en-US" smtClean="0"/>
              <a:pPr>
                <a:defRPr/>
              </a:pPr>
              <a:t>29 November 2025</a:t>
            </a:fld>
            <a:endParaRPr lang="en-US" dirty="0"/>
          </a:p>
        </p:txBody>
      </p:sp>
      <p:sp>
        <p:nvSpPr>
          <p:cNvPr id="5" name="Footer Placeholder 4"/>
          <p:cNvSpPr>
            <a:spLocks noGrp="1"/>
          </p:cNvSpPr>
          <p:nvPr>
            <p:ph type="ftr" sz="quarter" idx="3"/>
          </p:nvPr>
        </p:nvSpPr>
        <p:spPr>
          <a:xfrm>
            <a:off x="2640013" y="4857750"/>
            <a:ext cx="5508625" cy="206375"/>
          </a:xfrm>
          <a:prstGeom prst="rect">
            <a:avLst/>
          </a:prstGeom>
        </p:spPr>
        <p:txBody>
          <a:bodyPr vert="horz" lIns="45720" rIns="45720" bIns="0" rtlCol="0" anchor="b"/>
          <a:lstStyle>
            <a:lvl1pPr algn="l" eaLnBrk="1" latinLnBrk="0" hangingPunct="1">
              <a:defRPr kumimoji="0" sz="1200">
                <a:solidFill>
                  <a:schemeClr val="tx1">
                    <a:tint val="95000"/>
                  </a:schemeClr>
                </a:solidFill>
                <a:latin typeface="Arial" charset="0"/>
                <a:cs typeface="Arial" charset="0"/>
              </a:defRPr>
            </a:lvl1pPr>
            <a:extLst/>
          </a:lstStyle>
          <a:p>
            <a:pPr>
              <a:defRPr/>
            </a:pPr>
            <a:r>
              <a:rPr lang="en-IN"/>
              <a:t>0  th REVIEW PRESENTATION </a:t>
            </a:r>
            <a:endParaRPr lang="en-US" dirty="0"/>
          </a:p>
        </p:txBody>
      </p:sp>
      <p:sp>
        <p:nvSpPr>
          <p:cNvPr id="6" name="Slide Number Placeholder 5"/>
          <p:cNvSpPr>
            <a:spLocks noGrp="1"/>
          </p:cNvSpPr>
          <p:nvPr>
            <p:ph type="sldNum" sz="quarter" idx="4"/>
          </p:nvPr>
        </p:nvSpPr>
        <p:spPr>
          <a:xfrm>
            <a:off x="8204200" y="4857750"/>
            <a:ext cx="733425" cy="206375"/>
          </a:xfrm>
          <a:prstGeom prst="rect">
            <a:avLst/>
          </a:prstGeom>
        </p:spPr>
        <p:txBody>
          <a:bodyPr vert="horz" wrap="square" lIns="91440" tIns="45720" rIns="91440" bIns="0" numCol="1" anchor="b" anchorCtr="0" compatLnSpc="1">
            <a:prstTxWarp prst="textNoShape">
              <a:avLst/>
            </a:prstTxWarp>
          </a:bodyPr>
          <a:lstStyle>
            <a:lvl1pPr algn="r" eaLnBrk="1" hangingPunct="1">
              <a:defRPr sz="1200" smtClean="0">
                <a:solidFill>
                  <a:srgbClr val="3F3F3F"/>
                </a:solidFill>
              </a:defRPr>
            </a:lvl1pPr>
          </a:lstStyle>
          <a:p>
            <a:pPr>
              <a:defRPr/>
            </a:pPr>
            <a:fld id="{D78D2778-B29C-49DB-A26C-44F5760A332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016" r:id="rId1"/>
    <p:sldLayoutId id="2147484011" r:id="rId2"/>
    <p:sldLayoutId id="2147484017" r:id="rId3"/>
    <p:sldLayoutId id="2147484012" r:id="rId4"/>
    <p:sldLayoutId id="2147484013" r:id="rId5"/>
    <p:sldLayoutId id="2147484014" r:id="rId6"/>
    <p:sldLayoutId id="2147484018" r:id="rId7"/>
    <p:sldLayoutId id="2147484019" r:id="rId8"/>
    <p:sldLayoutId id="2147484020" r:id="rId9"/>
    <p:sldLayoutId id="2147484015" r:id="rId10"/>
    <p:sldLayoutId id="2147484021" r:id="rId11"/>
  </p:sldLayoutIdLst>
  <p:hf hdr="0" dt="0"/>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itchFamily="34" charset="0"/>
        </a:defRPr>
      </a:lvl2pPr>
      <a:lvl3pPr algn="l" rtl="0" eaLnBrk="0" fontAlgn="base" hangingPunct="0">
        <a:spcBef>
          <a:spcPct val="0"/>
        </a:spcBef>
        <a:spcAft>
          <a:spcPct val="0"/>
        </a:spcAft>
        <a:defRPr sz="4500" b="1">
          <a:solidFill>
            <a:srgbClr val="FFC800"/>
          </a:solidFill>
          <a:latin typeface="Corbel" pitchFamily="34" charset="0"/>
        </a:defRPr>
      </a:lvl3pPr>
      <a:lvl4pPr algn="l" rtl="0" eaLnBrk="0" fontAlgn="base" hangingPunct="0">
        <a:spcBef>
          <a:spcPct val="0"/>
        </a:spcBef>
        <a:spcAft>
          <a:spcPct val="0"/>
        </a:spcAft>
        <a:defRPr sz="4500" b="1">
          <a:solidFill>
            <a:srgbClr val="FFC800"/>
          </a:solidFill>
          <a:latin typeface="Corbel" pitchFamily="34" charset="0"/>
        </a:defRPr>
      </a:lvl4pPr>
      <a:lvl5pPr algn="l" rtl="0" eaLnBrk="0" fontAlgn="base" hangingPunct="0">
        <a:spcBef>
          <a:spcPct val="0"/>
        </a:spcBef>
        <a:spcAft>
          <a:spcPct val="0"/>
        </a:spcAft>
        <a:defRPr sz="4500" b="1">
          <a:solidFill>
            <a:srgbClr val="FFC800"/>
          </a:solidFill>
          <a:latin typeface="Corbel" pitchFamily="34" charset="0"/>
        </a:defRPr>
      </a:lvl5pPr>
      <a:lvl6pPr marL="457200" algn="l" rtl="0" fontAlgn="base">
        <a:spcBef>
          <a:spcPct val="0"/>
        </a:spcBef>
        <a:spcAft>
          <a:spcPct val="0"/>
        </a:spcAft>
        <a:defRPr sz="4500" b="1">
          <a:solidFill>
            <a:srgbClr val="FFC800"/>
          </a:solidFill>
          <a:latin typeface="Corbel" pitchFamily="34" charset="0"/>
        </a:defRPr>
      </a:lvl6pPr>
      <a:lvl7pPr marL="914400" algn="l" rtl="0" fontAlgn="base">
        <a:spcBef>
          <a:spcPct val="0"/>
        </a:spcBef>
        <a:spcAft>
          <a:spcPct val="0"/>
        </a:spcAft>
        <a:defRPr sz="4500" b="1">
          <a:solidFill>
            <a:srgbClr val="FFC800"/>
          </a:solidFill>
          <a:latin typeface="Corbel" pitchFamily="34" charset="0"/>
        </a:defRPr>
      </a:lvl7pPr>
      <a:lvl8pPr marL="1371600" algn="l" rtl="0" fontAlgn="base">
        <a:spcBef>
          <a:spcPct val="0"/>
        </a:spcBef>
        <a:spcAft>
          <a:spcPct val="0"/>
        </a:spcAft>
        <a:defRPr sz="4500" b="1">
          <a:solidFill>
            <a:srgbClr val="FFC800"/>
          </a:solidFill>
          <a:latin typeface="Corbel" pitchFamily="34" charset="0"/>
        </a:defRPr>
      </a:lvl8pPr>
      <a:lvl9pPr marL="1828800" algn="l" rtl="0" fontAlgn="base">
        <a:spcBef>
          <a:spcPct val="0"/>
        </a:spcBef>
        <a:spcAft>
          <a:spcPct val="0"/>
        </a:spcAft>
        <a:defRPr sz="4500" b="1">
          <a:solidFill>
            <a:srgbClr val="FFC800"/>
          </a:solidFill>
          <a:latin typeface="Corbel" pitchFamily="34" charset="0"/>
        </a:defRPr>
      </a:lvl9pPr>
      <a:extLst/>
    </p:titleStyle>
    <p:body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etbootstrap.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ocs.python.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pPr algn="ctr"/>
            <a:r>
              <a:rPr lang="en-US" sz="4400" dirty="0">
                <a:latin typeface="Times New Roman" pitchFamily="18" charset="0"/>
                <a:cs typeface="Times New Roman" pitchFamily="18" charset="0"/>
              </a:rPr>
              <a:t>TITLE OF THE PROJECT </a:t>
            </a:r>
            <a:endParaRPr lang="en-US" sz="4400" dirty="0">
              <a:solidFill>
                <a:schemeClr val="accent1">
                  <a:satMod val="150000"/>
                </a:schemeClr>
              </a:solidFill>
              <a:latin typeface="Times New Roman" pitchFamily="18" charset="0"/>
              <a:cs typeface="Times New Roman" pitchFamily="18" charset="0"/>
            </a:endParaRPr>
          </a:p>
        </p:txBody>
      </p:sp>
      <p:sp>
        <p:nvSpPr>
          <p:cNvPr id="9220" name="TextBox 4"/>
          <p:cNvSpPr txBox="1">
            <a:spLocks noChangeArrowheads="1"/>
          </p:cNvSpPr>
          <p:nvPr/>
        </p:nvSpPr>
        <p:spPr bwMode="auto">
          <a:xfrm>
            <a:off x="685800" y="1504950"/>
            <a:ext cx="7772400" cy="954107"/>
          </a:xfrm>
          <a:prstGeom prst="rect">
            <a:avLst/>
          </a:prstGeom>
          <a:noFill/>
          <a:ln w="9525">
            <a:noFill/>
            <a:miter lim="800000"/>
            <a:headEnd/>
            <a:tailEnd/>
          </a:ln>
        </p:spPr>
        <p:txBody>
          <a:bodyPr wrap="square">
            <a:spAutoFit/>
          </a:bodyPr>
          <a:lstStyle/>
          <a:p>
            <a:endParaRPr lang="en-IN" altLang="en-US" b="1" dirty="0"/>
          </a:p>
          <a:p>
            <a:endParaRPr lang="en-IN" altLang="en-US" dirty="0"/>
          </a:p>
          <a:p>
            <a:r>
              <a:rPr lang="en-IN" altLang="en-US" sz="2000" dirty="0"/>
              <a:t>	</a:t>
            </a:r>
          </a:p>
        </p:txBody>
      </p:sp>
      <p:sp>
        <p:nvSpPr>
          <p:cNvPr id="3" name="TextBox 2">
            <a:extLst>
              <a:ext uri="{FF2B5EF4-FFF2-40B4-BE49-F238E27FC236}">
                <a16:creationId xmlns:a16="http://schemas.microsoft.com/office/drawing/2014/main" id="{4C31E5E0-D441-8E76-8997-8DEB906D8E75}"/>
              </a:ext>
            </a:extLst>
          </p:cNvPr>
          <p:cNvSpPr txBox="1"/>
          <p:nvPr/>
        </p:nvSpPr>
        <p:spPr>
          <a:xfrm>
            <a:off x="1981200" y="2672492"/>
            <a:ext cx="5277173"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CRIME RECORD MANAGEMENT SYSTEM</a:t>
            </a:r>
            <a:endParaRPr lang="en-IN" alt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r>
              <a:rPr lang="en-US" sz="4400" dirty="0">
                <a:solidFill>
                  <a:schemeClr val="accent1">
                    <a:satMod val="150000"/>
                  </a:schemeClr>
                </a:solidFill>
                <a:latin typeface="+mn-lt"/>
                <a:cs typeface="Times New Roman" pitchFamily="18" charset="0"/>
              </a:rPr>
              <a:t>Abstract</a:t>
            </a:r>
          </a:p>
        </p:txBody>
      </p:sp>
      <p:sp>
        <p:nvSpPr>
          <p:cNvPr id="9220" name="TextBox 4"/>
          <p:cNvSpPr txBox="1">
            <a:spLocks noChangeArrowheads="1"/>
          </p:cNvSpPr>
          <p:nvPr/>
        </p:nvSpPr>
        <p:spPr bwMode="auto">
          <a:xfrm>
            <a:off x="685800" y="1504950"/>
            <a:ext cx="7772400" cy="4278094"/>
          </a:xfrm>
          <a:prstGeom prst="rect">
            <a:avLst/>
          </a:prstGeom>
          <a:noFill/>
          <a:ln w="9525">
            <a:noFill/>
            <a:miter lim="800000"/>
            <a:headEnd/>
            <a:tailEnd/>
          </a:ln>
        </p:spPr>
        <p:txBody>
          <a:bodyPr wrap="square">
            <a:spAutoFit/>
          </a:bodyPr>
          <a:lstStyle/>
          <a:p>
            <a:r>
              <a:rPr lang="en-US" sz="1800" dirty="0">
                <a:effectLst/>
                <a:latin typeface="Times New Roman" panose="02020603050405020304" pitchFamily="18" charset="0"/>
                <a:ea typeface="Times New Roman" panose="02020603050405020304" pitchFamily="18" charset="0"/>
              </a:rPr>
              <a:t>     Crime Record Management System (CRMS) is a database-driven solution designed to assist law enforcement agencies in efficiently storing, managing, and retrieving crime-related data. The system provides a structured platform for police officers to log crime reports, track investigations, store offender details, and manage case statuses. By leveraging DBMS concepts, the system ensures data integrity, security, and quick access to critical information. The database is designed to store essential records such as crime incidents, offender profiles, investigation progress, and legal proceedings. Through role-based access control, sensitive data is protected while ensuring authorized personnel can access relevant information. This project demonstrates the practical application of database management techniques in a real-world scenario, contributing to better crime management and public safety.</a:t>
            </a:r>
            <a:endParaRPr lang="en-IN" sz="1800" dirty="0">
              <a:effectLst/>
              <a:latin typeface="Times New Roman" panose="02020603050405020304" pitchFamily="18" charset="0"/>
              <a:ea typeface="Times New Roman" panose="02020603050405020304" pitchFamily="18" charset="0"/>
            </a:endParaRPr>
          </a:p>
          <a:p>
            <a:endParaRPr lang="en-IN" altLang="en-US" b="1" dirty="0"/>
          </a:p>
          <a:p>
            <a:endParaRPr lang="en-IN" altLang="en-US" dirty="0"/>
          </a:p>
          <a:p>
            <a:r>
              <a:rPr lang="en-IN" altLang="en-US" sz="2000" dirty="0"/>
              <a:t>	</a:t>
            </a:r>
          </a:p>
        </p:txBody>
      </p:sp>
    </p:spTree>
    <p:extLst>
      <p:ext uri="{BB962C8B-B14F-4D97-AF65-F5344CB8AC3E}">
        <p14:creationId xmlns:p14="http://schemas.microsoft.com/office/powerpoint/2010/main" val="2675627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Literature Review</a:t>
            </a:r>
          </a:p>
        </p:txBody>
      </p:sp>
      <p:graphicFrame>
        <p:nvGraphicFramePr>
          <p:cNvPr id="6" name="Table 5"/>
          <p:cNvGraphicFramePr>
            <a:graphicFrameLocks noGrp="1"/>
          </p:cNvGraphicFramePr>
          <p:nvPr>
            <p:extLst>
              <p:ext uri="{D42A27DB-BD31-4B8C-83A1-F6EECF244321}">
                <p14:modId xmlns:p14="http://schemas.microsoft.com/office/powerpoint/2010/main" val="3405679390"/>
              </p:ext>
            </p:extLst>
          </p:nvPr>
        </p:nvGraphicFramePr>
        <p:xfrm>
          <a:off x="152400" y="1276350"/>
          <a:ext cx="8839201" cy="5410878"/>
        </p:xfrm>
        <a:graphic>
          <a:graphicData uri="http://schemas.openxmlformats.org/drawingml/2006/table">
            <a:tbl>
              <a:tblPr firstRow="1" bandRow="1">
                <a:tableStyleId>{5DA37D80-6434-44D0-A028-1B22A696006F}</a:tableStyleId>
              </a:tblPr>
              <a:tblGrid>
                <a:gridCol w="609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gridCol w="1676401">
                  <a:extLst>
                    <a:ext uri="{9D8B030D-6E8A-4147-A177-3AD203B41FA5}">
                      <a16:colId xmlns:a16="http://schemas.microsoft.com/office/drawing/2014/main" val="20004"/>
                    </a:ext>
                  </a:extLst>
                </a:gridCol>
              </a:tblGrid>
              <a:tr h="595042">
                <a:tc>
                  <a:txBody>
                    <a:bodyPr/>
                    <a:lstStyle/>
                    <a:p>
                      <a:pPr algn="ctr"/>
                      <a:r>
                        <a:rPr lang="en-US" sz="1600" dirty="0">
                          <a:latin typeface="Times New Roman" panose="02020603050405020304" pitchFamily="18" charset="0"/>
                          <a:cs typeface="Times New Roman" panose="02020603050405020304" pitchFamily="18" charset="0"/>
                        </a:rPr>
                        <a:t>Year</a:t>
                      </a:r>
                    </a:p>
                  </a:txBody>
                  <a:tcPr marT="45719" marB="4571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Authors</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Title of the Paper </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Algorithm/</a:t>
                      </a:r>
                    </a:p>
                    <a:p>
                      <a:pPr algn="ctr"/>
                      <a:r>
                        <a:rPr lang="en-US" sz="1600" dirty="0">
                          <a:latin typeface="Times New Roman" panose="02020603050405020304" pitchFamily="18" charset="0"/>
                          <a:cs typeface="Times New Roman" panose="02020603050405020304" pitchFamily="18" charset="0"/>
                        </a:rPr>
                        <a:t>Methodologies/</a:t>
                      </a:r>
                      <a:r>
                        <a:rPr lang="en-US" sz="1600" baseline="0" dirty="0">
                          <a:latin typeface="Times New Roman" panose="02020603050405020304" pitchFamily="18" charset="0"/>
                          <a:cs typeface="Times New Roman" panose="02020603050405020304" pitchFamily="18" charset="0"/>
                        </a:rPr>
                        <a:t> Techniques</a:t>
                      </a: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Findings</a:t>
                      </a:r>
                    </a:p>
                  </a:txBody>
                  <a:tcPr marT="45719" marB="45719" anchor="ctr"/>
                </a:tc>
                <a:extLst>
                  <a:ext uri="{0D108BD9-81ED-4DB2-BD59-A6C34878D82A}">
                    <a16:rowId xmlns:a16="http://schemas.microsoft.com/office/drawing/2014/main" val="10000"/>
                  </a:ext>
                </a:extLst>
              </a:tr>
              <a:tr h="12365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2021</a:t>
                      </a:r>
                    </a:p>
                    <a:p>
                      <a:pPr algn="ct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A. Sharma, R. Kumar</a:t>
                      </a:r>
                    </a:p>
                    <a:p>
                      <a:pPr algn="ctr"/>
                      <a:endParaRPr lang="en-US" sz="1600" dirty="0">
                        <a:latin typeface="Times New Roman" pitchFamily="18" charset="0"/>
                        <a:cs typeface="Times New Roman" pitchFamily="18" charset="0"/>
                      </a:endParaRPr>
                    </a:p>
                  </a:txBody>
                  <a:tcPr marT="45719" marB="45719"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Design and Implementation of Crime Record Management System Using Relational Database</a:t>
                      </a:r>
                    </a:p>
                    <a:p>
                      <a:pPr algn="l"/>
                      <a:endParaRPr lang="en-US" sz="1600" dirty="0">
                        <a:latin typeface="Times New Roman" pitchFamily="18" charset="0"/>
                        <a:cs typeface="Times New Roman" pitchFamily="18" charset="0"/>
                      </a:endParaRPr>
                    </a:p>
                  </a:txBody>
                  <a:tcPr marT="45719" marB="45719"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Used MySQL as the DBMS backend. Developed with PHP and HTML for the frontend. Applied Entity-Relationship (ER) modeling for database design</a:t>
                      </a:r>
                    </a:p>
                    <a:p>
                      <a:pPr algn="l"/>
                      <a:endParaRPr lang="en-US" sz="1600" dirty="0">
                        <a:latin typeface="Times New Roman" pitchFamily="18" charset="0"/>
                        <a:cs typeface="Times New Roman" pitchFamily="18" charset="0"/>
                      </a:endParaRPr>
                    </a:p>
                  </a:txBody>
                  <a:tcPr marT="45719" marB="45719"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Used MySQL as the DBMS backend. Developed with PHP and HTML for the frontend. Applied Entity-Relationship (ER) modeling for database design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itchFamily="18" charset="0"/>
                        <a:cs typeface="Times New Roman" pitchFamily="18" charset="0"/>
                      </a:endParaRPr>
                    </a:p>
                  </a:txBody>
                  <a:tcPr marT="45719" marB="45719" anchor="ctr"/>
                </a:tc>
                <a:extLst>
                  <a:ext uri="{0D108BD9-81ED-4DB2-BD59-A6C34878D82A}">
                    <a16:rowId xmlns:a16="http://schemas.microsoft.com/office/drawing/2014/main" val="10001"/>
                  </a:ext>
                </a:extLst>
              </a:tr>
              <a:tr h="8229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2023</a:t>
                      </a:r>
                    </a:p>
                    <a:p>
                      <a:pPr algn="ct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err="1">
                          <a:latin typeface="Times New Roman" pitchFamily="18" charset="0"/>
                          <a:cs typeface="Times New Roman" pitchFamily="18" charset="0"/>
                        </a:rPr>
                        <a:t>S.Banerjee</a:t>
                      </a:r>
                      <a:r>
                        <a:rPr lang="en-US" sz="1600" dirty="0">
                          <a:latin typeface="Times New Roman" pitchFamily="18" charset="0"/>
                          <a:cs typeface="Times New Roman" pitchFamily="18" charset="0"/>
                        </a:rPr>
                        <a:t>, </a:t>
                      </a:r>
                    </a:p>
                    <a:p>
                      <a:pPr algn="ctr"/>
                      <a:r>
                        <a:rPr lang="en-US" sz="1600" dirty="0">
                          <a:latin typeface="Times New Roman" pitchFamily="18" charset="0"/>
                          <a:cs typeface="Times New Roman" pitchFamily="18" charset="0"/>
                        </a:rPr>
                        <a:t>P. R. Sinha</a:t>
                      </a:r>
                    </a:p>
                    <a:p>
                      <a:pPr algn="ctr"/>
                      <a:endParaRPr lang="en-US" sz="1600" dirty="0">
                        <a:latin typeface="Times New Roman" pitchFamily="18" charset="0"/>
                        <a:cs typeface="Times New Roman" pitchFamily="18" charset="0"/>
                      </a:endParaRPr>
                    </a:p>
                  </a:txBody>
                  <a:tcPr marT="45719" marB="45719" anchor="ctr"/>
                </a:tc>
                <a:tc>
                  <a:txBody>
                    <a:bodyPr/>
                    <a:lstStyle/>
                    <a:p>
                      <a:pPr algn="l"/>
                      <a:r>
                        <a:rPr lang="en-US" sz="1600" dirty="0">
                          <a:latin typeface="Times New Roman" pitchFamily="18" charset="0"/>
                          <a:cs typeface="Times New Roman" pitchFamily="18" charset="0"/>
                        </a:rPr>
                        <a:t>A Secure and Scalable Crime Data Management System Using DBMS and Web Technologies</a:t>
                      </a:r>
                    </a:p>
                    <a:p>
                      <a:pPr algn="ctr"/>
                      <a:endParaRPr lang="en-US" sz="1600" dirty="0">
                        <a:latin typeface="Times New Roman" pitchFamily="18" charset="0"/>
                        <a:cs typeface="Times New Roman" pitchFamily="18" charset="0"/>
                      </a:endParaRPr>
                    </a:p>
                    <a:p>
                      <a:pPr algn="l"/>
                      <a:endParaRPr lang="en-US" sz="1600" dirty="0">
                        <a:latin typeface="Times New Roman" pitchFamily="18" charset="0"/>
                        <a:cs typeface="Times New Roman" pitchFamily="18" charset="0"/>
                      </a:endParaRPr>
                    </a:p>
                  </a:txBody>
                  <a:tcPr marT="45719" marB="4571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Utilized PostgreSQL for database. Integrated Django web framework (Python). Employed role-based access control (RBAC) and encryption for data security</a:t>
                      </a:r>
                    </a:p>
                    <a:p>
                      <a:pPr algn="ctr"/>
                      <a:endParaRPr lang="en-US" sz="1600" dirty="0">
                        <a:latin typeface="Times New Roman" pitchFamily="18" charset="0"/>
                        <a:cs typeface="Times New Roman" pitchFamily="18" charset="0"/>
                      </a:endParaRPr>
                    </a:p>
                    <a:p>
                      <a:pPr algn="l"/>
                      <a:endParaRPr lang="en-US" sz="1600" dirty="0">
                        <a:latin typeface="Times New Roman" pitchFamily="18" charset="0"/>
                        <a:cs typeface="Times New Roman" pitchFamily="18" charset="0"/>
                      </a:endParaRPr>
                    </a:p>
                  </a:txBody>
                  <a:tcPr marT="45719" marB="45719"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latin typeface="Times New Roman" pitchFamily="18" charset="0"/>
                          <a:cs typeface="Times New Roman" pitchFamily="18" charset="0"/>
                        </a:rPr>
                        <a:t>Achieved high scalability in handling large datasets of crime records.</a:t>
                      </a:r>
                    </a:p>
                    <a:p>
                      <a:pPr algn="l"/>
                      <a:endParaRPr lang="en-US" sz="1600" b="0" dirty="0">
                        <a:latin typeface="Times New Roman" pitchFamily="18" charset="0"/>
                        <a:cs typeface="Times New Roman" pitchFamily="18" charset="0"/>
                      </a:endParaRPr>
                    </a:p>
                  </a:txBody>
                  <a:tcPr marT="45719" marB="45719"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65749-C5F4-9895-4C9B-E4E68E567F10}"/>
              </a:ext>
            </a:extLst>
          </p:cNvPr>
          <p:cNvSpPr>
            <a:spLocks noGrp="1"/>
          </p:cNvSpPr>
          <p:nvPr>
            <p:ph type="title"/>
          </p:nvPr>
        </p:nvSpPr>
        <p:spPr/>
        <p:txBody>
          <a:bodyPr/>
          <a:lstStyle/>
          <a:p>
            <a:r>
              <a:rPr lang="en-US" dirty="0"/>
              <a:t>Problem(s) Identified</a:t>
            </a:r>
            <a:endParaRPr lang="en-IN" dirty="0"/>
          </a:p>
        </p:txBody>
      </p:sp>
      <p:sp>
        <p:nvSpPr>
          <p:cNvPr id="3" name="Content Placeholder 2">
            <a:extLst>
              <a:ext uri="{FF2B5EF4-FFF2-40B4-BE49-F238E27FC236}">
                <a16:creationId xmlns:a16="http://schemas.microsoft.com/office/drawing/2014/main" id="{F2A0831C-84F2-DC6B-9A4F-2AA375EE18DA}"/>
              </a:ext>
            </a:extLst>
          </p:cNvPr>
          <p:cNvSpPr>
            <a:spLocks noGrp="1"/>
          </p:cNvSpPr>
          <p:nvPr>
            <p:ph idx="1"/>
          </p:nvPr>
        </p:nvSpPr>
        <p:spPr/>
        <p:txBody>
          <a:bodyPr/>
          <a:lstStyle/>
          <a:p>
            <a:pPr algn="just">
              <a:lnSpc>
                <a:spcPct val="150000"/>
              </a:lnSpc>
            </a:pPr>
            <a:r>
              <a:rPr lang="en-US" sz="1600" dirty="0">
                <a:latin typeface="Times New Roman" pitchFamily="18" charset="0"/>
                <a:cs typeface="Times New Roman" pitchFamily="18" charset="0"/>
              </a:rPr>
              <a:t>Design and develop a Crime Record Management System using DBMS concepts to efficiently store, manage, and retrieve crime-related data for law enforcement agencies. </a:t>
            </a:r>
          </a:p>
          <a:p>
            <a:pPr algn="just">
              <a:lnSpc>
                <a:spcPct val="150000"/>
              </a:lnSpc>
            </a:pPr>
            <a:r>
              <a:rPr lang="en-US" sz="1600" dirty="0">
                <a:latin typeface="Times New Roman" pitchFamily="18" charset="0"/>
                <a:cs typeface="Times New Roman" pitchFamily="18" charset="0"/>
              </a:rPr>
              <a:t>The system should allow police officers to log crime reports, track investigations, store offender details, and manage case statuses. </a:t>
            </a:r>
          </a:p>
          <a:p>
            <a:pPr algn="just">
              <a:lnSpc>
                <a:spcPct val="150000"/>
              </a:lnSpc>
            </a:pPr>
            <a:r>
              <a:rPr lang="en-US" sz="1600" dirty="0">
                <a:latin typeface="Times New Roman" pitchFamily="18" charset="0"/>
                <a:cs typeface="Times New Roman" pitchFamily="18" charset="0"/>
              </a:rPr>
              <a:t>The database will store critical data such as crime records, offender profiles, investigation details, and legal proceedings</a:t>
            </a:r>
            <a:endParaRPr lang="en-IN" sz="1600" dirty="0">
              <a:latin typeface="Times New Roman" pitchFamily="18" charset="0"/>
              <a:cs typeface="Times New Roman" pitchFamily="18" charset="0"/>
            </a:endParaRPr>
          </a:p>
          <a:p>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64057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Proposed Solution</a:t>
            </a:r>
          </a:p>
        </p:txBody>
      </p:sp>
      <p:sp>
        <p:nvSpPr>
          <p:cNvPr id="18435" name="Rectangle 3"/>
          <p:cNvSpPr>
            <a:spLocks noGrp="1"/>
          </p:cNvSpPr>
          <p:nvPr>
            <p:ph type="body" idx="1"/>
          </p:nvPr>
        </p:nvSpPr>
        <p:spPr>
          <a:xfrm>
            <a:off x="533400" y="1200150"/>
            <a:ext cx="8229600" cy="3468687"/>
          </a:xfrm>
        </p:spPr>
        <p:txBody>
          <a:bodyPr/>
          <a:lstStyle/>
          <a:p>
            <a:pPr algn="just"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Entity-Relationship (ER) Model – Defines entities such as Crimes, Officers, Offenders, and Case Reports, along with their relationships.</a:t>
            </a:r>
          </a:p>
          <a:p>
            <a:pPr algn="just"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Normalization – Eliminates redundant data by structuring tables efficiently.</a:t>
            </a:r>
          </a:p>
          <a:p>
            <a:pPr algn="just"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SQL Queries – Used for inserting, updating, deleting, and retrieving crime data.</a:t>
            </a:r>
          </a:p>
          <a:p>
            <a:pPr algn="just"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Transactions – Ensures the integrity of operations using ACID properties (Atomicity, Consistency, Isolation, and Durability).</a:t>
            </a:r>
          </a:p>
          <a:p>
            <a:pPr algn="just"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Triggers &amp; Constraints – Maintain data consistency and integrity (e.g., ensuring case numbers are unique). </a:t>
            </a:r>
          </a:p>
          <a:p>
            <a:pPr algn="just"/>
            <a:endParaRPr lang="en-US" altLang="en-US" sz="1800" dirty="0">
              <a:solidFill>
                <a:srgbClr val="0000FF"/>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Objectives</a:t>
            </a:r>
          </a:p>
        </p:txBody>
      </p:sp>
      <p:sp>
        <p:nvSpPr>
          <p:cNvPr id="13315" name="Rectangle 3"/>
          <p:cNvSpPr>
            <a:spLocks noGrp="1"/>
          </p:cNvSpPr>
          <p:nvPr>
            <p:ph idx="1"/>
          </p:nvPr>
        </p:nvSpPr>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Crime records are crucial for law enforcement agencies in their daily operations. </a:t>
            </a:r>
          </a:p>
          <a:p>
            <a:pPr algn="just">
              <a:lnSpc>
                <a:spcPct val="150000"/>
              </a:lnSpc>
            </a:pPr>
            <a:r>
              <a:rPr lang="en-US" sz="1800" dirty="0">
                <a:latin typeface="Times New Roman" panose="02020603050405020304" pitchFamily="18" charset="0"/>
                <a:cs typeface="Times New Roman" panose="02020603050405020304" pitchFamily="18" charset="0"/>
              </a:rPr>
              <a:t>Traditional methods of maintaining crime data involve manual record-keeping, which is prone to data loss, inefficiency, and errors. </a:t>
            </a:r>
          </a:p>
          <a:p>
            <a:pPr algn="just">
              <a:lnSpc>
                <a:spcPct val="150000"/>
              </a:lnSpc>
            </a:pPr>
            <a:r>
              <a:rPr lang="en-US" sz="1800" dirty="0">
                <a:latin typeface="Times New Roman" panose="02020603050405020304" pitchFamily="18" charset="0"/>
                <a:cs typeface="Times New Roman" panose="02020603050405020304" pitchFamily="18" charset="0"/>
              </a:rPr>
              <a:t>This project introduces a Crime Record Management System (CRMS) that leverages DBMS technology to improve crime data storage and retrieval. </a:t>
            </a:r>
          </a:p>
          <a:p>
            <a:pPr algn="just">
              <a:lnSpc>
                <a:spcPct val="150000"/>
              </a:lnSpc>
            </a:pPr>
            <a:r>
              <a:rPr lang="en-US" sz="1800" dirty="0">
                <a:latin typeface="Times New Roman" panose="02020603050405020304" pitchFamily="18" charset="0"/>
                <a:cs typeface="Times New Roman" panose="02020603050405020304" pitchFamily="18" charset="0"/>
              </a:rPr>
              <a:t>The system aims to streamline crime tracking, offender profiling, and investigation management, ensuring seamless access to information.</a:t>
            </a:r>
            <a:endParaRPr lang="en-US" altLang="en-US" sz="1800" dirty="0">
              <a:solidFill>
                <a:srgbClr val="0000FF"/>
              </a:solidFill>
              <a:latin typeface="Times New Roman" panose="02020603050405020304" pitchFamily="18" charset="0"/>
              <a:cs typeface="Times New Roman" panose="02020603050405020304" pitchFamily="18" charset="0"/>
            </a:endParaRPr>
          </a:p>
          <a:p>
            <a:endParaRPr lang="en-US" altLang="en-US" sz="2400" dirty="0">
              <a:solidFill>
                <a:srgbClr val="0000FF"/>
              </a:solidFill>
            </a:endParaRPr>
          </a:p>
        </p:txBody>
      </p:sp>
    </p:spTree>
    <p:extLst>
      <p:ext uri="{BB962C8B-B14F-4D97-AF65-F5344CB8AC3E}">
        <p14:creationId xmlns:p14="http://schemas.microsoft.com/office/powerpoint/2010/main" val="362915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Architecture Diagram</a:t>
            </a:r>
          </a:p>
        </p:txBody>
      </p:sp>
      <p:pic>
        <p:nvPicPr>
          <p:cNvPr id="4" name="Picture 3">
            <a:extLst>
              <a:ext uri="{FF2B5EF4-FFF2-40B4-BE49-F238E27FC236}">
                <a16:creationId xmlns:a16="http://schemas.microsoft.com/office/drawing/2014/main" id="{06FA32BD-7C55-D1A3-D32C-805764C6D576}"/>
              </a:ext>
            </a:extLst>
          </p:cNvPr>
          <p:cNvPicPr>
            <a:picLocks noChangeAspect="1"/>
          </p:cNvPicPr>
          <p:nvPr/>
        </p:nvPicPr>
        <p:blipFill>
          <a:blip r:embed="rId2"/>
          <a:stretch>
            <a:fillRect/>
          </a:stretch>
        </p:blipFill>
        <p:spPr>
          <a:xfrm>
            <a:off x="1682245" y="1457055"/>
            <a:ext cx="5779509" cy="3176291"/>
          </a:xfrm>
          <a:prstGeom prst="rect">
            <a:avLst/>
          </a:prstGeom>
        </p:spPr>
      </p:pic>
      <p:sp>
        <p:nvSpPr>
          <p:cNvPr id="21507" name="Rectangle 3"/>
          <p:cNvSpPr>
            <a:spLocks noGrp="1"/>
          </p:cNvSpPr>
          <p:nvPr>
            <p:ph type="body" idx="1"/>
          </p:nvPr>
        </p:nvSpPr>
        <p:spPr>
          <a:xfrm flipH="1" flipV="1">
            <a:off x="381000" y="4629149"/>
            <a:ext cx="152400" cy="397763"/>
          </a:xfrm>
        </p:spPr>
        <p:txBody>
          <a:bodyPr/>
          <a:lstStyle/>
          <a:p>
            <a:pPr marL="119062" indent="0">
              <a:buNone/>
            </a:pPr>
            <a:r>
              <a:rPr lang="en-US" altLang="en-US" sz="1400" dirty="0">
                <a:solidFill>
                  <a:srgbClr val="0000FF"/>
                </a:solidFill>
                <a:latin typeface="Times New Roman" pitchFamily="18" charset="0"/>
                <a:cs typeface="Times New Roman"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defRPr/>
            </a:pPr>
            <a:r>
              <a:rPr lang="en-US" altLang="en-US" dirty="0">
                <a:solidFill>
                  <a:srgbClr val="FFC000"/>
                </a:solidFill>
              </a:rPr>
              <a:t>Architecture Diagram Explanation</a:t>
            </a:r>
          </a:p>
        </p:txBody>
      </p:sp>
      <p:sp>
        <p:nvSpPr>
          <p:cNvPr id="4" name="Rectangle 2">
            <a:extLst>
              <a:ext uri="{FF2B5EF4-FFF2-40B4-BE49-F238E27FC236}">
                <a16:creationId xmlns:a16="http://schemas.microsoft.com/office/drawing/2014/main" id="{77D428CD-92A9-5EC0-0A7A-8EF43CCD9A4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Login Module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Enables secure access for Admin and Police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Admin Panel</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Manages officer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Views system logs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Analyzes reports and crime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Police Panel</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Enters and manages crime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Updates investigation progress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Handles offender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Manages legal proceedings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Centralized Database</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Stores all system data including crimes, users, logs, and legal records.</a:t>
            </a:r>
          </a:p>
        </p:txBody>
      </p:sp>
    </p:spTree>
    <p:extLst>
      <p:ext uri="{BB962C8B-B14F-4D97-AF65-F5344CB8AC3E}">
        <p14:creationId xmlns:p14="http://schemas.microsoft.com/office/powerpoint/2010/main" val="1063840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Schema Diagram</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6" name="Content Placeholder 5">
            <a:extLst>
              <a:ext uri="{FF2B5EF4-FFF2-40B4-BE49-F238E27FC236}">
                <a16:creationId xmlns:a16="http://schemas.microsoft.com/office/drawing/2014/main" id="{43025779-4406-0FA5-3662-3E77553B0018}"/>
              </a:ext>
            </a:extLst>
          </p:cNvPr>
          <p:cNvSpPr>
            <a:spLocks noGrp="1"/>
          </p:cNvSpPr>
          <p:nvPr>
            <p:ph idx="1"/>
          </p:nvPr>
        </p:nvSpPr>
        <p:spPr/>
        <p:txBody>
          <a:bodyPr/>
          <a:lstStyle/>
          <a:p>
            <a:pPr marL="119062" indent="0">
              <a:buNone/>
            </a:pPr>
            <a:endParaRPr lang="en-IN" dirty="0"/>
          </a:p>
          <a:p>
            <a:endParaRPr lang="en-IN" dirty="0"/>
          </a:p>
        </p:txBody>
      </p:sp>
      <p:pic>
        <p:nvPicPr>
          <p:cNvPr id="4" name="Picture 3">
            <a:extLst>
              <a:ext uri="{FF2B5EF4-FFF2-40B4-BE49-F238E27FC236}">
                <a16:creationId xmlns:a16="http://schemas.microsoft.com/office/drawing/2014/main" id="{647E3CF5-D7E9-65D9-C307-668DCED61DC5}"/>
              </a:ext>
            </a:extLst>
          </p:cNvPr>
          <p:cNvPicPr>
            <a:picLocks noChangeAspect="1"/>
          </p:cNvPicPr>
          <p:nvPr/>
        </p:nvPicPr>
        <p:blipFill>
          <a:blip r:embed="rId3"/>
          <a:stretch>
            <a:fillRect/>
          </a:stretch>
        </p:blipFill>
        <p:spPr>
          <a:xfrm>
            <a:off x="1143000" y="1120211"/>
            <a:ext cx="6553200" cy="4037239"/>
          </a:xfrm>
          <a:prstGeom prst="rect">
            <a:avLst/>
          </a:prstGeom>
        </p:spPr>
      </p:pic>
    </p:spTree>
    <p:extLst>
      <p:ext uri="{BB962C8B-B14F-4D97-AF65-F5344CB8AC3E}">
        <p14:creationId xmlns:p14="http://schemas.microsoft.com/office/powerpoint/2010/main" val="318941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p>
        </p:txBody>
      </p:sp>
      <p:pic>
        <p:nvPicPr>
          <p:cNvPr id="4" name="Content Placeholder 3">
            <a:extLst>
              <a:ext uri="{FF2B5EF4-FFF2-40B4-BE49-F238E27FC236}">
                <a16:creationId xmlns:a16="http://schemas.microsoft.com/office/drawing/2014/main" id="{134A375E-5CD3-6E6A-7CFC-09893B75BD1D}"/>
              </a:ext>
            </a:extLst>
          </p:cNvPr>
          <p:cNvPicPr>
            <a:picLocks noGrp="1" noChangeAspect="1"/>
          </p:cNvPicPr>
          <p:nvPr>
            <p:ph idx="1"/>
          </p:nvPr>
        </p:nvPicPr>
        <p:blipFill>
          <a:blip r:embed="rId2"/>
          <a:stretch>
            <a:fillRect/>
          </a:stretch>
        </p:blipFill>
        <p:spPr>
          <a:xfrm>
            <a:off x="694928" y="1331913"/>
            <a:ext cx="7754143" cy="3468687"/>
          </a:xfrm>
          <a:prstGeom prst="rect">
            <a:avLst/>
          </a:prstGeom>
        </p:spPr>
      </p:pic>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Tree>
    <p:extLst>
      <p:ext uri="{BB962C8B-B14F-4D97-AF65-F5344CB8AC3E}">
        <p14:creationId xmlns:p14="http://schemas.microsoft.com/office/powerpoint/2010/main" val="3241162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Description</a:t>
            </a:r>
          </a:p>
        </p:txBody>
      </p:sp>
      <p:sp>
        <p:nvSpPr>
          <p:cNvPr id="3" name="Content Placeholder 2"/>
          <p:cNvSpPr>
            <a:spLocks noGrp="1"/>
          </p:cNvSpPr>
          <p:nvPr>
            <p:ph idx="1"/>
          </p:nvPr>
        </p:nvSpPr>
        <p:spPr/>
        <p:txBody>
          <a:bodyPr/>
          <a:lstStyle/>
          <a:p>
            <a:r>
              <a:rPr lang="en-US" sz="1800" dirty="0"/>
              <a:t>The Crime Record Management System (CRMS) is a web-based application developed using </a:t>
            </a:r>
            <a:r>
              <a:rPr lang="en-US" sz="1800" b="1" dirty="0"/>
              <a:t>Flask</a:t>
            </a:r>
            <a:r>
              <a:rPr lang="en-US" sz="1800" dirty="0"/>
              <a:t> (a Python web framework) and </a:t>
            </a:r>
            <a:r>
              <a:rPr lang="en-US" sz="1800" b="1" dirty="0"/>
              <a:t>SQLite</a:t>
            </a:r>
            <a:r>
              <a:rPr lang="en-US" sz="1800" dirty="0"/>
              <a:t> (a lightweight database). It allows police officers to </a:t>
            </a:r>
            <a:r>
              <a:rPr lang="en-US" sz="1800" b="1" dirty="0"/>
              <a:t>log crime reports</a:t>
            </a:r>
            <a:r>
              <a:rPr lang="en-US" sz="1800" dirty="0"/>
              <a:t>, </a:t>
            </a:r>
            <a:r>
              <a:rPr lang="en-US" sz="1800" b="1" dirty="0"/>
              <a:t>track investigations</a:t>
            </a:r>
            <a:r>
              <a:rPr lang="en-US" sz="1800" dirty="0"/>
              <a:t>, </a:t>
            </a:r>
            <a:r>
              <a:rPr lang="en-US" sz="1800" b="1" dirty="0"/>
              <a:t>store offender details</a:t>
            </a:r>
            <a:r>
              <a:rPr lang="en-US" sz="1800" dirty="0"/>
              <a:t>, and </a:t>
            </a:r>
            <a:r>
              <a:rPr lang="en-US" sz="1800" b="1" dirty="0"/>
              <a:t>update case statuses</a:t>
            </a:r>
            <a:r>
              <a:rPr lang="en-US" sz="1800" dirty="0"/>
              <a:t>. The system provides a </a:t>
            </a:r>
            <a:r>
              <a:rPr lang="en-US" sz="1800" b="1" dirty="0"/>
              <a:t>user-friendly interface</a:t>
            </a:r>
            <a:r>
              <a:rPr lang="en-US" sz="1800" dirty="0"/>
              <a:t>, ensuring </a:t>
            </a:r>
            <a:r>
              <a:rPr lang="en-US" sz="1800" b="1" dirty="0"/>
              <a:t>secure</a:t>
            </a:r>
            <a:r>
              <a:rPr lang="en-US" sz="1800" dirty="0"/>
              <a:t>, </a:t>
            </a:r>
            <a:r>
              <a:rPr lang="en-US" sz="1800" b="1" dirty="0"/>
              <a:t>accurate</a:t>
            </a:r>
            <a:r>
              <a:rPr lang="en-US" sz="1800" dirty="0"/>
              <a:t>, and </a:t>
            </a:r>
            <a:r>
              <a:rPr lang="en-US" sz="1800" b="1" dirty="0"/>
              <a:t>efficient</a:t>
            </a:r>
            <a:r>
              <a:rPr lang="en-US" sz="1800" dirty="0"/>
              <a:t> management of crime data. All records are stored in a structured database, enabling easy </a:t>
            </a:r>
            <a:r>
              <a:rPr lang="en-US" sz="1800" b="1" dirty="0"/>
              <a:t>retrieval</a:t>
            </a:r>
            <a:r>
              <a:rPr lang="en-US" sz="1800" dirty="0"/>
              <a:t>, </a:t>
            </a:r>
            <a:r>
              <a:rPr lang="en-US" sz="1800" b="1" dirty="0"/>
              <a:t>search</a:t>
            </a:r>
            <a:r>
              <a:rPr lang="en-US" sz="1800" dirty="0"/>
              <a:t>, and </a:t>
            </a:r>
            <a:r>
              <a:rPr lang="en-US" sz="1800" b="1" dirty="0"/>
              <a:t>modification</a:t>
            </a:r>
            <a:r>
              <a:rPr lang="en-US" sz="1800" dirty="0"/>
              <a:t>. The software enhances crime data accessibility and supports better decision-making for law enforcement agencies.</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Tree>
    <p:extLst>
      <p:ext uri="{BB962C8B-B14F-4D97-AF65-F5344CB8AC3E}">
        <p14:creationId xmlns:p14="http://schemas.microsoft.com/office/powerpoint/2010/main" val="2268935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Discussion</a:t>
            </a:r>
          </a:p>
        </p:txBody>
      </p:sp>
      <p:pic>
        <p:nvPicPr>
          <p:cNvPr id="4" name="Content Placeholder 3">
            <a:extLst>
              <a:ext uri="{FF2B5EF4-FFF2-40B4-BE49-F238E27FC236}">
                <a16:creationId xmlns:a16="http://schemas.microsoft.com/office/drawing/2014/main" id="{C72DF197-346E-9E43-8158-198571947C34}"/>
              </a:ext>
            </a:extLst>
          </p:cNvPr>
          <p:cNvPicPr>
            <a:picLocks noGrp="1" noChangeAspect="1"/>
          </p:cNvPicPr>
          <p:nvPr>
            <p:ph idx="1"/>
          </p:nvPr>
        </p:nvPicPr>
        <p:blipFill>
          <a:blip r:embed="rId2"/>
          <a:stretch>
            <a:fillRect/>
          </a:stretch>
        </p:blipFill>
        <p:spPr>
          <a:xfrm>
            <a:off x="2051085" y="1648813"/>
            <a:ext cx="5041829" cy="2834886"/>
          </a:xfrm>
          <a:prstGeom prst="rect">
            <a:avLst/>
          </a:prstGeom>
        </p:spPr>
      </p:pic>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Tree>
    <p:extLst>
      <p:ext uri="{BB962C8B-B14F-4D97-AF65-F5344CB8AC3E}">
        <p14:creationId xmlns:p14="http://schemas.microsoft.com/office/powerpoint/2010/main" val="8199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663D-0DE3-567A-D4B3-1005B5BD1435}"/>
              </a:ext>
            </a:extLst>
          </p:cNvPr>
          <p:cNvSpPr>
            <a:spLocks noGrp="1"/>
          </p:cNvSpPr>
          <p:nvPr>
            <p:ph type="title"/>
          </p:nvPr>
        </p:nvSpPr>
        <p:spPr/>
        <p:txBody>
          <a:bodyPr/>
          <a:lstStyle/>
          <a:p>
            <a:r>
              <a:rPr lang="en-US" dirty="0"/>
              <a:t>Results &amp; Discussion</a:t>
            </a:r>
            <a:endParaRPr lang="en-IN" dirty="0"/>
          </a:p>
        </p:txBody>
      </p:sp>
      <p:sp>
        <p:nvSpPr>
          <p:cNvPr id="3" name="Footer Placeholder 2">
            <a:extLst>
              <a:ext uri="{FF2B5EF4-FFF2-40B4-BE49-F238E27FC236}">
                <a16:creationId xmlns:a16="http://schemas.microsoft.com/office/drawing/2014/main" id="{FF178FD5-9DD1-11FD-D776-A1FA651E7B6B}"/>
              </a:ext>
            </a:extLst>
          </p:cNvPr>
          <p:cNvSpPr>
            <a:spLocks noGrp="1"/>
          </p:cNvSpPr>
          <p:nvPr>
            <p:ph type="ftr" sz="quarter" idx="11"/>
          </p:nvPr>
        </p:nvSpPr>
        <p:spPr/>
        <p:txBody>
          <a:bodyPr/>
          <a:lstStyle/>
          <a:p>
            <a:pPr>
              <a:defRPr/>
            </a:pPr>
            <a:endParaRPr lang="en-US" dirty="0"/>
          </a:p>
        </p:txBody>
      </p:sp>
      <p:sp>
        <p:nvSpPr>
          <p:cNvPr id="4" name="Slide Number Placeholder 3">
            <a:extLst>
              <a:ext uri="{FF2B5EF4-FFF2-40B4-BE49-F238E27FC236}">
                <a16:creationId xmlns:a16="http://schemas.microsoft.com/office/drawing/2014/main" id="{DCDFBFF5-194E-D38F-DAD1-5E7A9F14C99B}"/>
              </a:ext>
            </a:extLst>
          </p:cNvPr>
          <p:cNvSpPr>
            <a:spLocks noGrp="1"/>
          </p:cNvSpPr>
          <p:nvPr>
            <p:ph type="sldNum" sz="quarter" idx="12"/>
          </p:nvPr>
        </p:nvSpPr>
        <p:spPr/>
        <p:txBody>
          <a:bodyPr/>
          <a:lstStyle/>
          <a:p>
            <a:pPr>
              <a:defRPr/>
            </a:pPr>
            <a:fld id="{4CE540F1-D866-4735-9E65-A1952EADD02D}" type="slidenum">
              <a:rPr lang="en-US" altLang="en-US" smtClean="0"/>
              <a:pPr>
                <a:defRPr/>
              </a:pPr>
              <a:t>13</a:t>
            </a:fld>
            <a:endParaRPr lang="en-US" altLang="en-US"/>
          </a:p>
        </p:txBody>
      </p:sp>
      <p:sp>
        <p:nvSpPr>
          <p:cNvPr id="5" name="Rectangle 1">
            <a:extLst>
              <a:ext uri="{FF2B5EF4-FFF2-40B4-BE49-F238E27FC236}">
                <a16:creationId xmlns:a16="http://schemas.microsoft.com/office/drawing/2014/main" id="{F6EFBE08-B87E-27BF-6EAF-7BFF858E5CF7}"/>
              </a:ext>
            </a:extLst>
          </p:cNvPr>
          <p:cNvSpPr>
            <a:spLocks noChangeArrowheads="1"/>
          </p:cNvSpPr>
          <p:nvPr/>
        </p:nvSpPr>
        <p:spPr bwMode="auto">
          <a:xfrm>
            <a:off x="457200" y="1657350"/>
            <a:ext cx="8001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Crime Record Management System (CRMS) was successfully developed and tested using Flask and SQLite. The system allows users to efficiently log new crime reports, update investigation progress, store offender profiles, and monitor case statuses. It provides a secure login system for authorized personnel, ensuring data confidentiality and integrity. During testing, the system showed fast data retrieval, accurate record updates, and smooth navigation through different modules. Overall, the CRMS simplifies crime data handling, improves operational efficiency for law enforcement, and demonstrates the effectiveness of using DBMS concepts in real-world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1113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sz="1800" dirty="0">
                <a:effectLst/>
                <a:latin typeface="Times New Roman" panose="02020603050405020304" pitchFamily="18" charset="0"/>
                <a:ea typeface="Times New Roman" panose="02020603050405020304" pitchFamily="18" charset="0"/>
              </a:rPr>
              <a:t>The Crime Record Management System (CRMS) is a well-structured, database-driven solution aimed at modernizing the way law enforcement agencies manage and access crime-related information. Traditional manual systems often suffer from inefficiencies, data loss, and security risks, which hinder effective crime tracking and investigation. CRMS addresses these challenges by offering a centralized, web-based platform that ensures secure data entry, structured storage, and efficient retrieval of crime reports, offender details, investigation records, and legal proceedings. This shift from paper-based to digital management significantly enhances the reliability, accessibility, and speed of operations in police departments.</a:t>
            </a:r>
            <a:endParaRPr lang="en-IN" sz="1800" dirty="0">
              <a:effectLst/>
              <a:latin typeface="Times New Roman" panose="02020603050405020304" pitchFamily="18" charset="0"/>
              <a:ea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Tree>
    <p:extLst>
      <p:ext uri="{BB962C8B-B14F-4D97-AF65-F5344CB8AC3E}">
        <p14:creationId xmlns:p14="http://schemas.microsoft.com/office/powerpoint/2010/main" val="361831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lstStyle/>
          <a:p>
            <a:pPr marL="342900" lvl="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rPr>
              <a:t>Elmasri, R., &amp; Navathe, S. B. (2017). </a:t>
            </a:r>
            <a:r>
              <a:rPr lang="en-US" sz="1800" i="1" dirty="0">
                <a:effectLst/>
                <a:latin typeface="Times New Roman" panose="02020603050405020304" pitchFamily="18" charset="0"/>
                <a:ea typeface="Times New Roman" panose="02020603050405020304" pitchFamily="18" charset="0"/>
              </a:rPr>
              <a:t>Fundamentals of Database Systems</a:t>
            </a:r>
            <a:r>
              <a:rPr lang="en-US" sz="1800" dirty="0">
                <a:effectLst/>
                <a:latin typeface="Times New Roman" panose="02020603050405020304" pitchFamily="18" charset="0"/>
                <a:ea typeface="Times New Roman" panose="02020603050405020304" pitchFamily="18" charset="0"/>
              </a:rPr>
              <a:t> (7th ed.). Pearson Education.</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rPr>
              <a:t>Silberschatz, A., Korth, H. F., &amp; Sudarshan, S. (2019). </a:t>
            </a:r>
            <a:r>
              <a:rPr lang="en-US" sz="1800" i="1" dirty="0">
                <a:effectLst/>
                <a:latin typeface="Times New Roman" panose="02020603050405020304" pitchFamily="18" charset="0"/>
                <a:ea typeface="Times New Roman" panose="02020603050405020304" pitchFamily="18" charset="0"/>
              </a:rPr>
              <a:t>Database System Concepts</a:t>
            </a:r>
            <a:r>
              <a:rPr lang="en-US" sz="1800" dirty="0">
                <a:effectLst/>
                <a:latin typeface="Times New Roman" panose="02020603050405020304" pitchFamily="18" charset="0"/>
                <a:ea typeface="Times New Roman" panose="02020603050405020304" pitchFamily="18" charset="0"/>
              </a:rPr>
              <a:t> (7th ed.). McGraw-Hill Education.</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rPr>
              <a:t>Flask Documentation – https://flask.palletsprojects.com</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rPr>
              <a:t>SQLite Documentation – https://www.sqlite.org/docs.html</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rPr>
              <a:t>Bootstrap Documentation – </a:t>
            </a:r>
            <a:r>
              <a:rPr lang="en-US" sz="1800" u="sng" dirty="0">
                <a:solidFill>
                  <a:srgbClr val="0000FF"/>
                </a:solidFill>
                <a:effectLst/>
                <a:latin typeface="Times New Roman" panose="02020603050405020304" pitchFamily="18" charset="0"/>
                <a:ea typeface="Times New Roman" panose="02020603050405020304" pitchFamily="18" charset="0"/>
                <a:hlinkClick r:id="rId3"/>
              </a:rPr>
              <a:t>https://getbootstrap.com</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rPr>
              <a:t>Python Official Documentation – </a:t>
            </a:r>
            <a:r>
              <a:rPr lang="en-US" sz="1800" u="sng" dirty="0">
                <a:solidFill>
                  <a:srgbClr val="0000FF"/>
                </a:solidFill>
                <a:effectLst/>
                <a:latin typeface="Times New Roman" panose="02020603050405020304" pitchFamily="18" charset="0"/>
                <a:ea typeface="Times New Roman" panose="02020603050405020304" pitchFamily="18" charset="0"/>
                <a:hlinkClick r:id="rId4"/>
              </a:rPr>
              <a:t>https://docs.python.org</a:t>
            </a:r>
            <a:endParaRPr lang="en-IN" sz="1800" dirty="0">
              <a:effectLst/>
              <a:latin typeface="Times New Roman" panose="02020603050405020304" pitchFamily="18" charset="0"/>
              <a:ea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spTree>
    <p:extLst>
      <p:ext uri="{BB962C8B-B14F-4D97-AF65-F5344CB8AC3E}">
        <p14:creationId xmlns:p14="http://schemas.microsoft.com/office/powerpoint/2010/main" val="673357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Droplet</Template>
  <TotalTime>0</TotalTime>
  <Words>1045</Words>
  <Application>Microsoft Office PowerPoint</Application>
  <PresentationFormat>On-screen Show (16:9)</PresentationFormat>
  <Paragraphs>87</Paragraphs>
  <Slides>15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Corbel</vt:lpstr>
      <vt:lpstr>Times New Roman</vt:lpstr>
      <vt:lpstr>Wingdings</vt:lpstr>
      <vt:lpstr>Wingdings 2</vt:lpstr>
      <vt:lpstr>Wingdings 3</vt:lpstr>
      <vt:lpstr>Module</vt:lpstr>
      <vt:lpstr>TITLE OF THE PROJECT </vt:lpstr>
      <vt:lpstr>Abstract</vt:lpstr>
      <vt:lpstr>Literature Review</vt:lpstr>
      <vt:lpstr>Problem(s) Identified</vt:lpstr>
      <vt:lpstr>Proposed Solution</vt:lpstr>
      <vt:lpstr>Objectives</vt:lpstr>
      <vt:lpstr>Architecture Diagram</vt:lpstr>
      <vt:lpstr>Architecture Diagram Explanation</vt:lpstr>
      <vt:lpstr>Schema Diagram</vt:lpstr>
      <vt:lpstr>ER diagram</vt:lpstr>
      <vt:lpstr>Software Description</vt:lpstr>
      <vt:lpstr>Results &amp; Discussion</vt:lpstr>
      <vt:lpstr>Results &amp; Discussion</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modified xsi:type="dcterms:W3CDTF">2025-11-29T09:58:45Z</dcterms:modified>
</cp:coreProperties>
</file>